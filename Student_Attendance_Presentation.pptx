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206240" cy="4206240"/>
          </a:xfrm>
          <a:prstGeom prst="ellipse">
            <a:avLst/>
          </a:prstGeom>
          <a:solidFill>
            <a:srgbClr val="08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728655" y="4480560"/>
            <a:ext cx="2926080" cy="2926080"/>
          </a:xfrm>
          <a:prstGeom prst="ellipse">
            <a:avLst/>
          </a:prstGeom>
          <a:solidFill>
            <a:srgbClr val="328CC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68680" cy="868680"/>
          </a:xfrm>
          <a:prstGeom prst="ellipse">
            <a:avLst/>
          </a:prstGeom>
          <a:solidFill>
            <a:srgbClr val="082A4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950976"/>
            <a:ext cx="521208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28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ANALYSIS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Report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what really drives student attendance across 20,000 records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4709160"/>
            <a:ext cx="201168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892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Attendance_Prediction.csv   |   20,000 students   |   15 features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analyzed this dataset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869680" y="502920"/>
            <a:ext cx="1920240" cy="1920240"/>
          </a:xfrm>
          <a:prstGeom prst="ellipse">
            <a:avLst/>
          </a:prstGeom>
          <a:solidFill>
            <a:srgbClr val="328CC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9740" y="982980"/>
            <a:ext cx="960120" cy="960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78308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EAF3FA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factors most strongly influence whether a student attends class — and quantify the size of each effect — to inform practical, evidence-based interventions.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3246120"/>
            <a:ext cx="3502152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60120" y="3566160"/>
            <a:ext cx="777240" cy="777240"/>
          </a:xfrm>
          <a:prstGeom prst="ellipse">
            <a:avLst/>
          </a:prstGeom>
          <a:solidFill>
            <a:srgbClr val="0B3C5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999" y="3741039"/>
            <a:ext cx="427482" cy="42748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4480560"/>
            <a:ext cx="2862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patterns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960120" y="4910328"/>
            <a:ext cx="28620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how attendance varies by environment, behavior, and demographics.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416552" y="3246120"/>
            <a:ext cx="3502152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36592" y="3566160"/>
            <a:ext cx="777240" cy="777240"/>
          </a:xfrm>
          <a:prstGeom prst="ellipse">
            <a:avLst/>
          </a:prstGeom>
          <a:solidFill>
            <a:srgbClr val="0B3C5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1471" y="3741039"/>
            <a:ext cx="427482" cy="4274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36592" y="4480560"/>
            <a:ext cx="2862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key drivers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736592" y="4910328"/>
            <a:ext cx="28620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which factors show the strongest real relationship with attendance.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93024" y="3246120"/>
            <a:ext cx="3502152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513064" y="3566160"/>
            <a:ext cx="777240" cy="777240"/>
          </a:xfrm>
          <a:prstGeom prst="ellipse">
            <a:avLst/>
          </a:prstGeom>
          <a:solidFill>
            <a:srgbClr val="0B3C5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7943" y="3741039"/>
            <a:ext cx="427482" cy="42748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13064" y="4480560"/>
            <a:ext cx="2862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action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8513064" y="4910328"/>
            <a:ext cx="28620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findings into concrete, data-backed recommendations.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— Exploratory Data Analysis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working with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0B3C5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31343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16916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0B3C5D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7830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91840" y="231343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0B3C5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175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77240" y="354787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292608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0B3C5D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30175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91840" y="354787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640080" cy="640080"/>
          </a:xfrm>
          <a:prstGeom prst="ellipse">
            <a:avLst/>
          </a:prstGeom>
          <a:solidFill>
            <a:srgbClr val="328CC1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4487418"/>
            <a:ext cx="352044" cy="35204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17320" y="438912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file: Attendance_Prediction.csv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989320" y="1691640"/>
            <a:ext cx="5532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Groups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989320" y="2148840"/>
            <a:ext cx="5532120" cy="777240"/>
          </a:xfrm>
          <a:prstGeom prst="roundRect">
            <a:avLst>
              <a:gd name="adj" fmla="val 7059"/>
            </a:avLst>
          </a:prstGeom>
          <a:solidFill>
            <a:srgbClr val="EAF3FA"/>
          </a:solidFill>
          <a:ln/>
        </p:spPr>
      </p:sp>
      <p:sp>
        <p:nvSpPr>
          <p:cNvPr id="21" name="Text 18"/>
          <p:cNvSpPr/>
          <p:nvPr/>
        </p:nvSpPr>
        <p:spPr>
          <a:xfrm>
            <a:off x="6217920" y="22402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772400" y="22402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course, year of study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989320" y="3063240"/>
            <a:ext cx="5532120" cy="777240"/>
          </a:xfrm>
          <a:prstGeom prst="roundRect">
            <a:avLst>
              <a:gd name="adj" fmla="val 7059"/>
            </a:avLst>
          </a:prstGeom>
          <a:solidFill>
            <a:srgbClr val="EAF3FA"/>
          </a:solidFill>
          <a:ln/>
        </p:spPr>
      </p:sp>
      <p:sp>
        <p:nvSpPr>
          <p:cNvPr id="24" name="Text 21"/>
          <p:cNvSpPr/>
          <p:nvPr/>
        </p:nvSpPr>
        <p:spPr>
          <a:xfrm>
            <a:off x="6217920" y="31546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772400" y="31546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parent's education, internet access, hostel residency, weather, travel time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989320" y="3977640"/>
            <a:ext cx="5532120" cy="777240"/>
          </a:xfrm>
          <a:prstGeom prst="roundRect">
            <a:avLst>
              <a:gd name="adj" fmla="val 7059"/>
            </a:avLst>
          </a:prstGeom>
          <a:solidFill>
            <a:srgbClr val="EAF3FA"/>
          </a:solidFill>
          <a:ln/>
        </p:spPr>
      </p:sp>
      <p:sp>
        <p:nvSpPr>
          <p:cNvPr id="27" name="Text 24"/>
          <p:cNvSpPr/>
          <p:nvPr/>
        </p:nvSpPr>
        <p:spPr>
          <a:xfrm>
            <a:off x="6217920" y="40690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7772400" y="40690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hours, sleep hours, class type (online/offline)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989320" y="4892040"/>
            <a:ext cx="5532120" cy="777240"/>
          </a:xfrm>
          <a:prstGeom prst="roundRect">
            <a:avLst>
              <a:gd name="adj" fmla="val 7059"/>
            </a:avLst>
          </a:prstGeom>
          <a:solidFill>
            <a:srgbClr val="EAF3FA"/>
          </a:solidFill>
          <a:ln/>
        </p:spPr>
      </p:sp>
      <p:sp>
        <p:nvSpPr>
          <p:cNvPr id="30" name="Text 27"/>
          <p:cNvSpPr/>
          <p:nvPr/>
        </p:nvSpPr>
        <p:spPr>
          <a:xfrm>
            <a:off x="6217920" y="49834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7772400" y="49834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(1 = present, 0 = absent) · also: absence_reason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— Exploratory Data Analysis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the data for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1737360" cy="173736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0" y="937260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783080"/>
            <a:ext cx="53492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41248" y="2112264"/>
            <a:ext cx="640080" cy="640080"/>
          </a:xfrm>
          <a:prstGeom prst="ellipse">
            <a:avLst/>
          </a:prstGeom>
          <a:solidFill>
            <a:srgbClr val="0B3C5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66" y="2256282"/>
            <a:ext cx="352044" cy="3520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1929384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identifier column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645920" y="2313432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student_id — unique per row, no predictive value.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263640" y="1783080"/>
            <a:ext cx="53492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64808" y="2112264"/>
            <a:ext cx="640080" cy="640080"/>
          </a:xfrm>
          <a:prstGeom prst="ellipse">
            <a:avLst/>
          </a:prstGeom>
          <a:solidFill>
            <a:srgbClr val="0B3C5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826" y="2256282"/>
            <a:ext cx="352044" cy="3520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69480" y="1929384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data integrity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7269480" y="2313432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missing values and duplicate rows — none found.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3374136"/>
            <a:ext cx="53492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41248" y="3703320"/>
            <a:ext cx="640080" cy="640080"/>
          </a:xfrm>
          <a:prstGeom prst="ellipse">
            <a:avLst/>
          </a:prstGeom>
          <a:solidFill>
            <a:srgbClr val="0B3C5D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266" y="3847338"/>
            <a:ext cx="352044" cy="3520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45920" y="35204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categories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645920" y="3904488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Label-encoded all categorical columns for numerical analysis.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263640" y="3374136"/>
            <a:ext cx="53492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64808" y="3703320"/>
            <a:ext cx="640080" cy="640080"/>
          </a:xfrm>
          <a:prstGeom prst="ellipse">
            <a:avLst/>
          </a:prstGeom>
          <a:solidFill>
            <a:srgbClr val="0B3C5D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8826" y="3847338"/>
            <a:ext cx="352044" cy="3520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69480" y="35204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study_sleep_ratio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7269480" y="3904488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feature: study hours ÷ sleep hours, to capture balance.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640080" y="4965192"/>
            <a:ext cx="53492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41248" y="5294376"/>
            <a:ext cx="640080" cy="640080"/>
          </a:xfrm>
          <a:prstGeom prst="ellipse">
            <a:avLst/>
          </a:prstGeom>
          <a:solidFill>
            <a:srgbClr val="0B3C5D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266" y="5438394"/>
            <a:ext cx="352044" cy="35204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645920" y="511149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Binned travel time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1645920" y="5495544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travel_category: Near / Medium / Far from travel_time_minutes.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6263640" y="4965192"/>
            <a:ext cx="53492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464808" y="5294376"/>
            <a:ext cx="640080" cy="640080"/>
          </a:xfrm>
          <a:prstGeom prst="ellipse">
            <a:avLst/>
          </a:prstGeom>
          <a:solidFill>
            <a:srgbClr val="0B3C5D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8826" y="5438394"/>
            <a:ext cx="352044" cy="35204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269480" y="511149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numeric features</a:t>
            </a:r>
            <a:endParaRPr lang="en-US" sz="1350" dirty="0"/>
          </a:p>
        </p:txBody>
      </p:sp>
      <p:sp>
        <p:nvSpPr>
          <p:cNvPr id="35" name="Text 26"/>
          <p:cNvSpPr/>
          <p:nvPr/>
        </p:nvSpPr>
        <p:spPr>
          <a:xfrm>
            <a:off x="7269480" y="5495544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age, study hours, sleep hours, and travel time for fair comparison.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— Exploratory Data Analysis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distribution &amp; weather effect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4160520"/>
          </a:xfrm>
          <a:prstGeom prst="roundRect">
            <a:avLst>
              <a:gd name="adj" fmla="val 1538"/>
            </a:avLst>
          </a:prstGeom>
          <a:solidFill>
            <a:srgbClr val="EAF3FA"/>
          </a:solidFill>
          <a:ln/>
        </p:spPr>
      </p:sp>
      <p:pic>
        <p:nvPicPr>
          <p:cNvPr id="5" name="Image 0" descr="images/attendance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20240"/>
            <a:ext cx="4846320" cy="3230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48920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— Attendance is balanced: ~51.6% present vs. ~48.4% absent across 20,000 records.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172200" y="1691640"/>
            <a:ext cx="5394960" cy="4160520"/>
          </a:xfrm>
          <a:prstGeom prst="roundRect">
            <a:avLst>
              <a:gd name="adj" fmla="val 1538"/>
            </a:avLst>
          </a:prstGeom>
          <a:solidFill>
            <a:srgbClr val="EAF3FA"/>
          </a:solidFill>
          <a:ln/>
        </p:spPr>
      </p:sp>
      <p:pic>
        <p:nvPicPr>
          <p:cNvPr id="8" name="Image 1" descr="images/weather_vs_attend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920240"/>
            <a:ext cx="4846320" cy="327797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46520" y="48920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— Rainy days (code 3) show the lowest attendance at 41.6%, vs. ~53–55% for other weather.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— Exploratory Data Analysis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 &amp; travel time effects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4160520"/>
          </a:xfrm>
          <a:prstGeom prst="roundRect">
            <a:avLst>
              <a:gd name="adj" fmla="val 1538"/>
            </a:avLst>
          </a:prstGeom>
          <a:solidFill>
            <a:srgbClr val="EAF3FA"/>
          </a:solidFill>
          <a:ln/>
        </p:spPr>
      </p:sp>
      <p:pic>
        <p:nvPicPr>
          <p:cNvPr id="5" name="Image 0" descr="images/study_hours_vs_attend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20240"/>
            <a:ext cx="4846320" cy="323552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48920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 — Students who attend report higher study hours on average (r ≈ 0.20).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172200" y="1691640"/>
            <a:ext cx="5394960" cy="4160520"/>
          </a:xfrm>
          <a:prstGeom prst="roundRect">
            <a:avLst>
              <a:gd name="adj" fmla="val 1538"/>
            </a:avLst>
          </a:prstGeom>
          <a:solidFill>
            <a:srgbClr val="EAF3FA"/>
          </a:solidFill>
          <a:ln/>
        </p:spPr>
      </p:sp>
      <p:pic>
        <p:nvPicPr>
          <p:cNvPr id="8" name="Image 1" descr="images/travel_time_vs_attend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920240"/>
            <a:ext cx="4846320" cy="323552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46520" y="48920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 — Longer commutes trend with lower attendance (r ≈ -0.13).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— Exploratory Data Analysis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02152" cy="2011680"/>
          </a:xfrm>
          <a:prstGeom prst="roundRect">
            <a:avLst>
              <a:gd name="adj" fmla="val 3636"/>
            </a:avLst>
          </a:prstGeom>
          <a:solidFill>
            <a:srgbClr val="EAF3F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57400"/>
            <a:ext cx="640080" cy="640080"/>
          </a:xfrm>
          <a:prstGeom prst="ellipse">
            <a:avLst/>
          </a:prstGeom>
          <a:solidFill>
            <a:srgbClr val="0B3C5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418" y="220141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34640"/>
            <a:ext cx="2953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type is the #1 driver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14400" y="3291840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classes: 59.9% attendance vs. offline: 48.0% — a 12-point gap.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16552" y="1783080"/>
            <a:ext cx="3502152" cy="2011680"/>
          </a:xfrm>
          <a:prstGeom prst="roundRect">
            <a:avLst>
              <a:gd name="adj" fmla="val 3636"/>
            </a:avLst>
          </a:prstGeom>
          <a:solidFill>
            <a:srgbClr val="EAF3FA"/>
          </a:solidFill>
          <a:ln/>
        </p:spPr>
      </p:sp>
      <p:sp>
        <p:nvSpPr>
          <p:cNvPr id="10" name="Shape 7"/>
          <p:cNvSpPr/>
          <p:nvPr/>
        </p:nvSpPr>
        <p:spPr>
          <a:xfrm>
            <a:off x="4690872" y="2057400"/>
            <a:ext cx="640080" cy="640080"/>
          </a:xfrm>
          <a:prstGeom prst="ellipse">
            <a:avLst/>
          </a:prstGeom>
          <a:solidFill>
            <a:srgbClr val="0B3C5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890" y="220141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90872" y="2834640"/>
            <a:ext cx="2953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drags attendance down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90872" y="3291840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Rainy days fall to 41.6% attendance, well below all other conditions.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93024" y="1783080"/>
            <a:ext cx="3502152" cy="2011680"/>
          </a:xfrm>
          <a:prstGeom prst="roundRect">
            <a:avLst>
              <a:gd name="adj" fmla="val 3636"/>
            </a:avLst>
          </a:prstGeom>
          <a:solidFill>
            <a:srgbClr val="EAF3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467344" y="2057400"/>
            <a:ext cx="640080" cy="640080"/>
          </a:xfrm>
          <a:prstGeom prst="ellipse">
            <a:avLst/>
          </a:prstGeom>
          <a:solidFill>
            <a:srgbClr val="0B3C5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1362" y="220141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67344" y="2834640"/>
            <a:ext cx="2953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habits track attendance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467344" y="3291840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 (+0.20) and sleep hours (+0.13) both correlate positively.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023360"/>
            <a:ext cx="3502152" cy="2011680"/>
          </a:xfrm>
          <a:prstGeom prst="roundRect">
            <a:avLst>
              <a:gd name="adj" fmla="val 3636"/>
            </a:avLst>
          </a:prstGeom>
          <a:solidFill>
            <a:srgbClr val="EAF3FA"/>
          </a:solidFill>
          <a:ln/>
        </p:spPr>
      </p:sp>
      <p:sp>
        <p:nvSpPr>
          <p:cNvPr id="20" name="Shape 15"/>
          <p:cNvSpPr/>
          <p:nvPr/>
        </p:nvSpPr>
        <p:spPr>
          <a:xfrm>
            <a:off x="914400" y="4297680"/>
            <a:ext cx="640080" cy="640080"/>
          </a:xfrm>
          <a:prstGeom prst="ellipse">
            <a:avLst/>
          </a:prstGeom>
          <a:solidFill>
            <a:srgbClr val="0B3C5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418" y="4441698"/>
            <a:ext cx="352044" cy="3520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5074920"/>
            <a:ext cx="2953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 length matters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14400" y="5532120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time correlates negatively with attendance (r ≈ -0.13).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416552" y="4023360"/>
            <a:ext cx="3502152" cy="2011680"/>
          </a:xfrm>
          <a:prstGeom prst="roundRect">
            <a:avLst>
              <a:gd name="adj" fmla="val 3636"/>
            </a:avLst>
          </a:prstGeom>
          <a:solidFill>
            <a:srgbClr val="EAF3FA"/>
          </a:solidFill>
          <a:ln/>
        </p:spPr>
      </p:sp>
      <p:sp>
        <p:nvSpPr>
          <p:cNvPr id="25" name="Shape 19"/>
          <p:cNvSpPr/>
          <p:nvPr/>
        </p:nvSpPr>
        <p:spPr>
          <a:xfrm>
            <a:off x="4690872" y="4297680"/>
            <a:ext cx="640080" cy="640080"/>
          </a:xfrm>
          <a:prstGeom prst="ellipse">
            <a:avLst/>
          </a:prstGeom>
          <a:solidFill>
            <a:srgbClr val="0B3C5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4890" y="4441698"/>
            <a:ext cx="352044" cy="3520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90872" y="5074920"/>
            <a:ext cx="2953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barely move the needle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690872" y="5532120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course, year, parent education: all under a 2-point spread.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93024" y="4023360"/>
            <a:ext cx="3502152" cy="2011680"/>
          </a:xfrm>
          <a:prstGeom prst="roundRect">
            <a:avLst>
              <a:gd name="adj" fmla="val 3636"/>
            </a:avLst>
          </a:prstGeom>
          <a:solidFill>
            <a:srgbClr val="FFF3EC"/>
          </a:solidFill>
          <a:ln/>
        </p:spPr>
      </p:sp>
      <p:sp>
        <p:nvSpPr>
          <p:cNvPr id="30" name="Shape 23"/>
          <p:cNvSpPr/>
          <p:nvPr/>
        </p:nvSpPr>
        <p:spPr>
          <a:xfrm>
            <a:off x="8467344" y="429768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1362" y="4441698"/>
            <a:ext cx="352044" cy="3520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67344" y="5074920"/>
            <a:ext cx="2953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data leakage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467344" y="5532120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absence_reason perfectly predicts attendance — exclude it from modeling.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— Exploratory Data Analysis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931920"/>
            <a:ext cx="4389120" cy="4389120"/>
          </a:xfrm>
          <a:prstGeom prst="ellipse">
            <a:avLst/>
          </a:prstGeom>
          <a:solidFill>
            <a:srgbClr val="08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62895" y="-1280160"/>
            <a:ext cx="3108960" cy="3108960"/>
          </a:xfrm>
          <a:prstGeom prst="ellipse">
            <a:avLst/>
          </a:prstGeom>
          <a:solidFill>
            <a:srgbClr val="328CC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40080"/>
            <a:ext cx="822960" cy="82296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26" y="82524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600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04872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230428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format and weather conditions matter most — flexible or hybrid options on rainy days could meaningfully lift attendance.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026664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0160" y="292608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 length is a real barrier — flexible policies could help students with long travel times.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648456"/>
            <a:ext cx="292608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80160" y="354787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Demographic-based interventions are not supported by this data — focus efforts elsewhere.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270248"/>
            <a:ext cx="292608" cy="2926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80160" y="416966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absence_reason from any predictive model — it leaks the outcome rather than predicting it.</a:t>
            </a:r>
            <a:endParaRPr lang="en-US" sz="1400" dirty="0"/>
          </a:p>
        </p:txBody>
      </p:sp>
      <p:sp>
        <p:nvSpPr>
          <p:cNvPr id="15" name="Shape 8"/>
          <p:cNvSpPr/>
          <p:nvPr/>
        </p:nvSpPr>
        <p:spPr>
          <a:xfrm>
            <a:off x="822960" y="5001768"/>
            <a:ext cx="201168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822960" y="518464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Attendance — Exploratory Data Analysis</dc:title>
  <dc:subject>PptxGenJS Presentation</dc:subject>
  <dc:creator>Student Attendance EDA</dc:creator>
  <cp:lastModifiedBy>Student Attendance EDA</cp:lastModifiedBy>
  <cp:revision>1</cp:revision>
  <dcterms:created xsi:type="dcterms:W3CDTF">2026-06-23T07:42:36Z</dcterms:created>
  <dcterms:modified xsi:type="dcterms:W3CDTF">2026-06-23T07:42:36Z</dcterms:modified>
</cp:coreProperties>
</file>